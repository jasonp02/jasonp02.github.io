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4" r:id="rId4"/>
  </p:sldMasterIdLst>
  <p:notesMasterIdLst>
    <p:notesMasterId r:id="rId14"/>
  </p:notesMasterIdLst>
  <p:sldIdLst>
    <p:sldId id="270" r:id="rId5"/>
    <p:sldId id="276" r:id="rId6"/>
    <p:sldId id="299" r:id="rId7"/>
    <p:sldId id="300" r:id="rId8"/>
    <p:sldId id="301" r:id="rId9"/>
    <p:sldId id="302" r:id="rId10"/>
    <p:sldId id="303" r:id="rId11"/>
    <p:sldId id="305" r:id="rId12"/>
    <p:sldId id="304" r:id="rId1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0123B49-F43D-FAAA-050F-C6959683CD55}" name="Connor Mackey" initials="CM" userId="S::cbmackey@umass.edu::7593b12c-36b1-4d52-b6fb-8364ead4133b" providerId="AD"/>
  <p188:author id="{CBF2C38C-2B0F-4EC0-4244-F250AB3DC4CE}" name="David Shlimak" initials="DS" userId="S::dshlimak@umass.edu::0c259dcc-a33f-480c-a121-54d476ab33a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F8A254-194E-944C-B431-62F97E6862F3}" v="1616" dt="2024-05-07T16:42:01.325"/>
  </p1510:revLst>
</p1510:revInfo>
</file>

<file path=ppt/tableStyles.xml><?xml version="1.0" encoding="utf-8"?>
<a:tblStyleLst xmlns:a="http://schemas.openxmlformats.org/drawingml/2006/main" def="{2EF4CF9B-4981-4E52-BA71-EF0F57D9D07F}">
  <a:tblStyle styleId="{2EF4CF9B-4981-4E52-BA71-EF0F57D9D07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66"/>
    <p:restoredTop sz="94710"/>
  </p:normalViewPr>
  <p:slideViewPr>
    <p:cSldViewPr snapToGrid="0">
      <p:cViewPr varScale="1">
        <p:scale>
          <a:sx n="192" d="100"/>
          <a:sy n="192" d="100"/>
        </p:scale>
        <p:origin x="184" y="22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umass.sharepoint.com/sites/659FinalProject/Shared%20Documents/General/659_Final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umass.sharepoint.com/sites/659FinalProject/Shared%20Documents/General/659_Final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umass.sharepoint.com/sites/659FinalProject/Shared%20Documents/General/659_Final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Entry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'[659_Final.xlsx]Sheet1'!$C$1</c:f>
              <c:strCache>
                <c:ptCount val="1"/>
                <c:pt idx="0">
                  <c:v>KNN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'[659_Final.xlsx]Sheet1'!$B$2:$B$4</c:f>
              <c:strCache>
                <c:ptCount val="3"/>
                <c:pt idx="0">
                  <c:v>Time</c:v>
                </c:pt>
                <c:pt idx="1">
                  <c:v>Frequency</c:v>
                </c:pt>
                <c:pt idx="2">
                  <c:v>Mortlet</c:v>
                </c:pt>
              </c:strCache>
            </c:strRef>
          </c:cat>
          <c:val>
            <c:numRef>
              <c:f>'[659_Final.xlsx]Sheet1'!$C$2:$C$4</c:f>
              <c:numCache>
                <c:formatCode>General</c:formatCode>
                <c:ptCount val="3"/>
                <c:pt idx="0">
                  <c:v>0.2</c:v>
                </c:pt>
                <c:pt idx="1">
                  <c:v>0.66600000000000004</c:v>
                </c:pt>
                <c:pt idx="2">
                  <c:v>0.46600000000000003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CF2-8A4A-9776-CE28CAF1BA87}"/>
            </c:ext>
          </c:extLst>
        </c:ser>
        <c:ser>
          <c:idx val="1"/>
          <c:order val="1"/>
          <c:tx>
            <c:strRef>
              <c:f>'[659_Final.xlsx]Sheet1'!$D$1</c:f>
              <c:strCache>
                <c:ptCount val="1"/>
                <c:pt idx="0">
                  <c:v>Random Forest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'[659_Final.xlsx]Sheet1'!$B$2:$B$4</c:f>
              <c:strCache>
                <c:ptCount val="3"/>
                <c:pt idx="0">
                  <c:v>Time</c:v>
                </c:pt>
                <c:pt idx="1">
                  <c:v>Frequency</c:v>
                </c:pt>
                <c:pt idx="2">
                  <c:v>Mortlet</c:v>
                </c:pt>
              </c:strCache>
            </c:strRef>
          </c:cat>
          <c:val>
            <c:numRef>
              <c:f>'[659_Final.xlsx]Sheet1'!$D$2:$D$4</c:f>
              <c:numCache>
                <c:formatCode>General</c:formatCode>
                <c:ptCount val="3"/>
                <c:pt idx="0">
                  <c:v>0.28299999999999997</c:v>
                </c:pt>
                <c:pt idx="1">
                  <c:v>0.78300000000000003</c:v>
                </c:pt>
                <c:pt idx="2">
                  <c:v>0.55000000000000004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CF2-8A4A-9776-CE28CAF1BA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71951583"/>
        <c:axId val="1171656031"/>
      </c:lineChart>
      <c:catAx>
        <c:axId val="11719515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71656031"/>
        <c:crosses val="autoZero"/>
        <c:auto val="1"/>
        <c:lblAlgn val="ctr"/>
        <c:lblOffset val="100"/>
        <c:noMultiLvlLbl val="0"/>
      </c:catAx>
      <c:valAx>
        <c:axId val="11716560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719515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Steady State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'[659_Final.xlsx]Sheet1'!$C$6</c:f>
              <c:strCache>
                <c:ptCount val="1"/>
                <c:pt idx="0">
                  <c:v>KNN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'[659_Final.xlsx]Sheet1'!$B$7:$B$9</c:f>
              <c:strCache>
                <c:ptCount val="3"/>
                <c:pt idx="0">
                  <c:v>Time</c:v>
                </c:pt>
                <c:pt idx="1">
                  <c:v>Frequency</c:v>
                </c:pt>
                <c:pt idx="2">
                  <c:v>Mortlet</c:v>
                </c:pt>
              </c:strCache>
            </c:strRef>
          </c:cat>
          <c:val>
            <c:numRef>
              <c:f>'[659_Final.xlsx]Sheet1'!$C$7:$C$9</c:f>
              <c:numCache>
                <c:formatCode>General</c:formatCode>
                <c:ptCount val="3"/>
                <c:pt idx="0">
                  <c:v>0.31</c:v>
                </c:pt>
                <c:pt idx="1">
                  <c:v>0.57999999999999996</c:v>
                </c:pt>
                <c:pt idx="2">
                  <c:v>0.48299999999999998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B3F-1343-9E18-76749DFF2CC3}"/>
            </c:ext>
          </c:extLst>
        </c:ser>
        <c:ser>
          <c:idx val="1"/>
          <c:order val="1"/>
          <c:tx>
            <c:strRef>
              <c:f>'[659_Final.xlsx]Sheet1'!$D$6</c:f>
              <c:strCache>
                <c:ptCount val="1"/>
                <c:pt idx="0">
                  <c:v>Random Forest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'[659_Final.xlsx]Sheet1'!$B$7:$B$9</c:f>
              <c:strCache>
                <c:ptCount val="3"/>
                <c:pt idx="0">
                  <c:v>Time</c:v>
                </c:pt>
                <c:pt idx="1">
                  <c:v>Frequency</c:v>
                </c:pt>
                <c:pt idx="2">
                  <c:v>Mortlet</c:v>
                </c:pt>
              </c:strCache>
            </c:strRef>
          </c:cat>
          <c:val>
            <c:numRef>
              <c:f>'[659_Final.xlsx]Sheet1'!$D$7:$D$9</c:f>
              <c:numCache>
                <c:formatCode>General</c:formatCode>
                <c:ptCount val="3"/>
                <c:pt idx="0">
                  <c:v>0.36</c:v>
                </c:pt>
                <c:pt idx="1">
                  <c:v>0.71599999999999997</c:v>
                </c:pt>
                <c:pt idx="2">
                  <c:v>0.6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B3F-1343-9E18-76749DFF2C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31852479"/>
        <c:axId val="380920687"/>
      </c:lineChart>
      <c:catAx>
        <c:axId val="6318524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80920687"/>
        <c:crosses val="autoZero"/>
        <c:auto val="1"/>
        <c:lblAlgn val="ctr"/>
        <c:lblOffset val="100"/>
        <c:noMultiLvlLbl val="0"/>
      </c:catAx>
      <c:valAx>
        <c:axId val="380920687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3185247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Combined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'[659_Final.xlsx]Sheet1'!$C$11</c:f>
              <c:strCache>
                <c:ptCount val="1"/>
                <c:pt idx="0">
                  <c:v>KNN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'[659_Final.xlsx]Sheet1'!$A$12:$B$14</c:f>
              <c:strCache>
                <c:ptCount val="3"/>
                <c:pt idx="0">
                  <c:v>Time</c:v>
                </c:pt>
                <c:pt idx="1">
                  <c:v>Frequency</c:v>
                </c:pt>
                <c:pt idx="2">
                  <c:v>Mortlet</c:v>
                </c:pt>
              </c:strCache>
            </c:strRef>
          </c:cat>
          <c:val>
            <c:numRef>
              <c:f>'[659_Final.xlsx]Sheet1'!$C$12:$C$14</c:f>
              <c:numCache>
                <c:formatCode>General</c:formatCode>
                <c:ptCount val="3"/>
                <c:pt idx="0">
                  <c:v>0.41599999999999998</c:v>
                </c:pt>
                <c:pt idx="1">
                  <c:v>0.69159999999999999</c:v>
                </c:pt>
                <c:pt idx="2">
                  <c:v>0.43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FE9-2443-ACC0-F4B781B5EC40}"/>
            </c:ext>
          </c:extLst>
        </c:ser>
        <c:ser>
          <c:idx val="1"/>
          <c:order val="1"/>
          <c:tx>
            <c:strRef>
              <c:f>'[659_Final.xlsx]Sheet1'!$D$11</c:f>
              <c:strCache>
                <c:ptCount val="1"/>
                <c:pt idx="0">
                  <c:v>Random Forest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'[659_Final.xlsx]Sheet1'!$A$12:$B$14</c:f>
              <c:strCache>
                <c:ptCount val="3"/>
                <c:pt idx="0">
                  <c:v>Time</c:v>
                </c:pt>
                <c:pt idx="1">
                  <c:v>Frequency</c:v>
                </c:pt>
                <c:pt idx="2">
                  <c:v>Mortlet</c:v>
                </c:pt>
              </c:strCache>
            </c:strRef>
          </c:cat>
          <c:val>
            <c:numRef>
              <c:f>'[659_Final.xlsx]Sheet1'!$D$12:$D$14</c:f>
              <c:numCache>
                <c:formatCode>General</c:formatCode>
                <c:ptCount val="3"/>
                <c:pt idx="0">
                  <c:v>0.35799999999999998</c:v>
                </c:pt>
                <c:pt idx="1">
                  <c:v>0.70799999999999996</c:v>
                </c:pt>
                <c:pt idx="2">
                  <c:v>0.55000000000000004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FE9-2443-ACC0-F4B781B5EC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03670559"/>
        <c:axId val="635025503"/>
      </c:lineChart>
      <c:catAx>
        <c:axId val="9036705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35025503"/>
        <c:crosses val="autoZero"/>
        <c:auto val="1"/>
        <c:lblAlgn val="ctr"/>
        <c:lblOffset val="100"/>
        <c:noMultiLvlLbl val="0"/>
      </c:catAx>
      <c:valAx>
        <c:axId val="635025503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0367055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sz="1800">
                <a:effectLst/>
                <a:latin typeface="Segoe UI" panose="020B0502040204020203" pitchFamily="34" charset="0"/>
              </a:rPr>
              <a:t>Presenting:</a:t>
            </a:r>
            <a:br>
              <a:rPr lang="en-US" sz="1800">
                <a:effectLst/>
                <a:latin typeface="Segoe UI" panose="020B0502040204020203" pitchFamily="34" charset="0"/>
              </a:rPr>
            </a:br>
            <a:r>
              <a:rPr lang="en-US" sz="1800" err="1">
                <a:effectLst/>
                <a:latin typeface="Segoe UI" panose="020B0502040204020203" pitchFamily="34" charset="0"/>
              </a:rPr>
              <a:t>Zul</a:t>
            </a:r>
            <a:r>
              <a:rPr lang="en-US" sz="1800">
                <a:effectLst/>
                <a:latin typeface="Segoe UI" panose="020B0502040204020203" pitchFamily="34" charset="0"/>
              </a:rPr>
              <a:t> </a:t>
            </a:r>
            <a:r>
              <a:rPr lang="en-US" sz="1800" err="1">
                <a:effectLst/>
                <a:latin typeface="Segoe UI" panose="020B0502040204020203" pitchFamily="34" charset="0"/>
              </a:rPr>
              <a:t>Karnain</a:t>
            </a:r>
            <a:r>
              <a:rPr lang="en-US" sz="1800">
                <a:effectLst/>
                <a:latin typeface="Segoe UI" panose="020B0502040204020203" pitchFamily="34" charset="0"/>
              </a:rPr>
              <a:t>: Intro, Background, Goals, Methods</a:t>
            </a:r>
            <a:br>
              <a:rPr lang="en-US" sz="1800">
                <a:effectLst/>
                <a:latin typeface="Segoe UI" panose="020B0502040204020203" pitchFamily="34" charset="0"/>
              </a:rPr>
            </a:br>
            <a:r>
              <a:rPr lang="en-US" sz="1800">
                <a:effectLst/>
                <a:latin typeface="Segoe UI" panose="020B0502040204020203" pitchFamily="34" charset="0"/>
              </a:rPr>
              <a:t>Connor: Imaging Results</a:t>
            </a:r>
            <a:br>
              <a:rPr lang="en-US" sz="1800">
                <a:effectLst/>
                <a:latin typeface="Segoe UI" panose="020B0502040204020203" pitchFamily="34" charset="0"/>
              </a:rPr>
            </a:br>
            <a:r>
              <a:rPr lang="en-US" sz="1800" err="1">
                <a:effectLst/>
                <a:latin typeface="Segoe UI" panose="020B0502040204020203" pitchFamily="34" charset="0"/>
              </a:rPr>
              <a:t>Shlimak</a:t>
            </a:r>
            <a:r>
              <a:rPr lang="en-US" sz="1800">
                <a:effectLst/>
                <a:latin typeface="Segoe UI" panose="020B0502040204020203" pitchFamily="34" charset="0"/>
              </a:rPr>
              <a:t>: Mechanical Results, Conclusions, Suggestions</a:t>
            </a:r>
            <a:endParaRPr lang="en-US" sz="1800">
              <a:effectLst/>
              <a:latin typeface="Arial" panose="020B0604020202020204" pitchFamily="34" charset="0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6342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US" b="0" i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TiAl</a:t>
            </a:r>
            <a:r>
              <a:rPr lang="en-US" b="0" i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alloys typically consist of two major phases: α2 phase (Ti3Al) with hexagonal structure and γ phase (</a:t>
            </a:r>
            <a:r>
              <a:rPr lang="en-US" b="0" i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TiAl</a:t>
            </a:r>
            <a:r>
              <a:rPr lang="en-US" b="0" i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) with tetragonal structure.</a:t>
            </a:r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tabLst/>
              <a:defRPr/>
            </a:pPr>
            <a:r>
              <a:rPr lang="en-US" b="0" i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These ordered phases exhibit low ductility, especially in their binary state.</a:t>
            </a:r>
          </a:p>
          <a:p>
            <a:pPr marL="457200" indent="-298450" algn="l"/>
            <a:r>
              <a:rPr lang="en-US" b="0" i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Alloying improves ductility and fracture toughness by relaxing slip mode restrictions, altering ordering kinetics, introducing ductile second phases like </a:t>
            </a:r>
            <a:r>
              <a:rPr lang="el-GR" b="0" i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β </a:t>
            </a:r>
            <a:r>
              <a:rPr lang="en-US" b="0" i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or </a:t>
            </a:r>
            <a:r>
              <a:rPr lang="el-GR" b="0" i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β2, </a:t>
            </a:r>
            <a:r>
              <a:rPr lang="en-US" b="0" i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and modifying transformation behavior during heat treatment.</a:t>
            </a:r>
          </a:p>
          <a:p>
            <a:pPr marL="457200" indent="-298450" algn="l"/>
            <a:r>
              <a:rPr lang="en-US" b="0" i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Typical </a:t>
            </a:r>
            <a:r>
              <a:rPr lang="en-US" b="0" i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TiAl</a:t>
            </a:r>
            <a:r>
              <a:rPr lang="en-US" b="0" i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alloy compositions are described as Ti–(42–49)Al–(0.1–10)X, with X representing alloying elements like Nb, Cr, V, Ta, Mo, Zr, W, Si, C, and B.</a:t>
            </a:r>
          </a:p>
          <a:p>
            <a:pPr marL="457200" indent="-298450" algn="l"/>
            <a:r>
              <a:rPr lang="en-US" b="0" i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Alloy constitution and microstructures (equiaxed, duplex, nearly lamellar, fully lamellar) significantly influence mechanical properties.</a:t>
            </a:r>
          </a:p>
        </p:txBody>
      </p:sp>
    </p:spTree>
    <p:extLst>
      <p:ext uri="{BB962C8B-B14F-4D97-AF65-F5344CB8AC3E}">
        <p14:creationId xmlns:p14="http://schemas.microsoft.com/office/powerpoint/2010/main" val="20254051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9" name="Google Shape;19;p2"/>
          <p:cNvSpPr/>
          <p:nvPr/>
        </p:nvSpPr>
        <p:spPr>
          <a:xfrm>
            <a:off x="121275" y="4833325"/>
            <a:ext cx="1247400" cy="205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4003588" y="69958"/>
            <a:ext cx="5140500" cy="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body" idx="1"/>
          </p:nvPr>
        </p:nvSpPr>
        <p:spPr>
          <a:xfrm>
            <a:off x="628650" y="671063"/>
            <a:ext cx="7886700" cy="38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/>
          <p:nvPr/>
        </p:nvSpPr>
        <p:spPr>
          <a:xfrm>
            <a:off x="3710539" y="4822257"/>
            <a:ext cx="11334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4295196" y="4803356"/>
            <a:ext cx="56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</a:t>
            </a: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/>
        </p:nvSpPr>
        <p:spPr>
          <a:xfrm>
            <a:off x="71561" y="4779707"/>
            <a:ext cx="19428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MIE 415 / 497M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628650" y="559962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628650" y="1779372"/>
            <a:ext cx="7886700" cy="27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561" y="1"/>
            <a:ext cx="3016602" cy="5599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42327" y="4779707"/>
            <a:ext cx="1950812" cy="30985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/>
          <p:nvPr/>
        </p:nvSpPr>
        <p:spPr>
          <a:xfrm>
            <a:off x="3464" y="599722"/>
            <a:ext cx="9137100" cy="591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1"/>
          <p:cNvSpPr/>
          <p:nvPr/>
        </p:nvSpPr>
        <p:spPr>
          <a:xfrm>
            <a:off x="3464" y="4676855"/>
            <a:ext cx="9137100" cy="591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 txBox="1">
            <a:spLocks noGrp="1"/>
          </p:cNvSpPr>
          <p:nvPr>
            <p:ph type="sldNum" idx="12"/>
          </p:nvPr>
        </p:nvSpPr>
        <p:spPr>
          <a:xfrm>
            <a:off x="4295196" y="4767263"/>
            <a:ext cx="56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/>
          <p:nvPr/>
        </p:nvSpPr>
        <p:spPr>
          <a:xfrm>
            <a:off x="121275" y="4833325"/>
            <a:ext cx="1247400" cy="205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80A84-BBC2-D46C-916C-D9419E0C77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2006" y="867262"/>
            <a:ext cx="7679987" cy="2250831"/>
          </a:xfrm>
        </p:spPr>
        <p:txBody>
          <a:bodyPr spcFirstLastPara="1" wrap="square" lIns="68575" tIns="34275" rIns="68575" bIns="34275" anchor="b" anchorCtr="0">
            <a:noAutofit/>
          </a:bodyPr>
          <a:lstStyle/>
          <a:p>
            <a:r>
              <a:rPr lang="en-US" sz="2800">
                <a:solidFill>
                  <a:srgbClr val="FF0000"/>
                </a:solidFill>
              </a:rPr>
              <a:t>Applications of KNN, Random Forest, and Deep Neural Network for Drill Bit Monitoring</a:t>
            </a:r>
            <a:br>
              <a:rPr lang="en-US" sz="2800">
                <a:solidFill>
                  <a:srgbClr val="FF0000"/>
                </a:solidFill>
              </a:rPr>
            </a:br>
            <a:br>
              <a:rPr lang="en-US" sz="2800">
                <a:solidFill>
                  <a:srgbClr val="FF0000"/>
                </a:solidFill>
              </a:rPr>
            </a:br>
            <a:endParaRPr lang="en-US" sz="16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1D5485-1423-F94C-A329-10913238E8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367648"/>
            <a:ext cx="6858000" cy="1110342"/>
          </a:xfrm>
        </p:spPr>
        <p:txBody>
          <a:bodyPr>
            <a:normAutofit/>
          </a:bodyPr>
          <a:lstStyle/>
          <a:p>
            <a:r>
              <a:rPr lang="en-US"/>
              <a:t>Presented by </a:t>
            </a:r>
          </a:p>
          <a:p>
            <a:r>
              <a:rPr lang="en-US" sz="1600"/>
              <a:t>Jason </a:t>
            </a:r>
            <a:r>
              <a:rPr lang="en-US" sz="1600" err="1"/>
              <a:t>Pettinato</a:t>
            </a:r>
            <a:r>
              <a:rPr lang="en-US" sz="1600"/>
              <a:t> and David Shlimak</a:t>
            </a:r>
          </a:p>
        </p:txBody>
      </p:sp>
    </p:spTree>
    <p:extLst>
      <p:ext uri="{BB962C8B-B14F-4D97-AF65-F5344CB8AC3E}">
        <p14:creationId xmlns:p14="http://schemas.microsoft.com/office/powerpoint/2010/main" val="26167062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52FDB-64F0-561F-DB74-4CA997D1C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776326-E409-39AB-ADFF-D7AD88426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779929"/>
            <a:ext cx="8226510" cy="3583641"/>
          </a:xfrm>
        </p:spPr>
        <p:txBody>
          <a:bodyPr>
            <a:normAutofit/>
          </a:bodyPr>
          <a:lstStyle/>
          <a:p>
            <a:pPr marL="139700" indent="0" algn="l" rtl="0" fontAlgn="base">
              <a:buNone/>
            </a:pPr>
            <a:r>
              <a:rPr lang="en-US" sz="1600" b="0" i="0" u="none" strike="noStrike" dirty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Task</a:t>
            </a:r>
          </a:p>
          <a:p>
            <a:pPr fontAlgn="base"/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Classify drill bit faults by analyzing vibration data with various machine learning techniques</a:t>
            </a:r>
          </a:p>
          <a:p>
            <a:pPr marL="139700" indent="0" fontAlgn="base">
              <a:buNone/>
            </a:pPr>
            <a:endParaRPr lang="en-US" sz="1400" b="0" i="0" u="none" strike="noStrike" dirty="0"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39700" indent="0" algn="l" rtl="0" fontAlgn="base">
              <a:buNone/>
            </a:pPr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Background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Signal data from accelerometers is challenging to interpret without significant processing and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Machine learning allows for proactive fault detection based on live data</a:t>
            </a:r>
          </a:p>
          <a:p>
            <a:pPr marL="139700" indent="0">
              <a:buNone/>
            </a:pPr>
            <a:endParaRPr lang="en-US" sz="1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39700" indent="0" algn="l" rtl="0" fontAlgn="base">
              <a:buNone/>
            </a:pPr>
            <a:r>
              <a:rPr lang="en-US" sz="1600" b="0" i="0" u="none" strike="noStrike" dirty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Approach</a:t>
            </a:r>
          </a:p>
          <a:p>
            <a:pPr fontAlgn="base"/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Processed data in time, frequency, and </a:t>
            </a:r>
            <a:r>
              <a:rPr lang="en-US" sz="14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Morlet</a:t>
            </a:r>
            <a:r>
              <a:rPr lang="en-US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domains, implemented KNN, Random Forest, and Deep Neural Network</a:t>
            </a:r>
            <a:endParaRPr lang="en-US" sz="1400" b="0" i="0" u="none" strike="noStrike" dirty="0"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4704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A5E51-11C2-BF12-B631-A41F4C947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Methods: Overview</a:t>
            </a:r>
          </a:p>
        </p:txBody>
      </p:sp>
      <p:sp>
        <p:nvSpPr>
          <p:cNvPr id="11" name="TextBox 22">
            <a:extLst>
              <a:ext uri="{FF2B5EF4-FFF2-40B4-BE49-F238E27FC236}">
                <a16:creationId xmlns:a16="http://schemas.microsoft.com/office/drawing/2014/main" id="{8E5A8302-91F3-FDDE-945F-D5DC59018D63}"/>
              </a:ext>
            </a:extLst>
          </p:cNvPr>
          <p:cNvSpPr txBox="1"/>
          <p:nvPr/>
        </p:nvSpPr>
        <p:spPr>
          <a:xfrm>
            <a:off x="332094" y="3826785"/>
            <a:ext cx="8474277" cy="34073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50000"/>
              </a:lnSpc>
              <a:spcBef>
                <a:spcPts val="0"/>
              </a:spcBef>
            </a:pPr>
            <a:r>
              <a:rPr lang="en-US" sz="1200" b="1">
                <a:latin typeface="Calibri"/>
                <a:cs typeface="Calibri"/>
              </a:rPr>
              <a:t>Key Takeaway: </a:t>
            </a:r>
            <a:r>
              <a:rPr lang="en-US" sz="1200">
                <a:latin typeface="Calibri"/>
                <a:cs typeface="Calibri"/>
              </a:rPr>
              <a:t>Applied KNN, Random Forest, and Deep Neural Network models to classify drill bit data. Maximum accuracy = 95%.</a:t>
            </a:r>
            <a:endParaRPr 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 descr="A screen shot of a cell phone&#10;&#10;Description automatically generated">
            <a:extLst>
              <a:ext uri="{FF2B5EF4-FFF2-40B4-BE49-F238E27FC236}">
                <a16:creationId xmlns:a16="http://schemas.microsoft.com/office/drawing/2014/main" id="{D1717110-06A1-08E5-478A-793F668878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674419"/>
            <a:ext cx="8001000" cy="1389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748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B880F-3930-294B-4C80-E584E7AE5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Data Processing</a:t>
            </a:r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C6D3DD26-76AC-7A5C-A076-EF19C5311601}"/>
              </a:ext>
            </a:extLst>
          </p:cNvPr>
          <p:cNvSpPr txBox="1"/>
          <p:nvPr/>
        </p:nvSpPr>
        <p:spPr>
          <a:xfrm>
            <a:off x="335148" y="3890644"/>
            <a:ext cx="8474277" cy="34073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50000"/>
              </a:lnSpc>
              <a:spcBef>
                <a:spcPts val="0"/>
              </a:spcBef>
            </a:pPr>
            <a:r>
              <a:rPr lang="en-US" sz="1200" b="1">
                <a:latin typeface="Calibri"/>
                <a:cs typeface="Calibri"/>
              </a:rPr>
              <a:t>Key Takeaway: </a:t>
            </a:r>
            <a:r>
              <a:rPr lang="en-US" sz="1200">
                <a:latin typeface="Calibri"/>
                <a:cs typeface="Calibri"/>
              </a:rPr>
              <a:t>Cleaned data, separated by phase and domain, then performed cross validation for each model.</a:t>
            </a:r>
            <a:endParaRPr 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D14C90FF-CD4D-9CEA-DB5A-1059D0AC3B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668" y="1732350"/>
            <a:ext cx="7954663" cy="1172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064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778E0-F2DA-1204-B608-D0CCE72E5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KNN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140582-AD66-6543-8292-E1E5BF2B00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915" y="744604"/>
            <a:ext cx="7886700" cy="613609"/>
          </a:xfrm>
        </p:spPr>
        <p:txBody>
          <a:bodyPr>
            <a:normAutofit lnSpcReduction="10000"/>
          </a:bodyPr>
          <a:lstStyle/>
          <a:p>
            <a:pPr marL="139700" indent="0">
              <a:buNone/>
            </a:pPr>
            <a:r>
              <a:rPr lang="en-US" sz="1400" b="1" u="sng"/>
              <a:t>Theory</a:t>
            </a:r>
            <a:endParaRPr lang="en-US" sz="1400" b="1"/>
          </a:p>
          <a:p>
            <a:pPr marL="139700" indent="0">
              <a:buNone/>
            </a:pPr>
            <a:r>
              <a:rPr lang="en-US" sz="1400"/>
              <a:t> KNN chooses the data and decides which class the data belongs to using weighted voting</a:t>
            </a:r>
            <a:endParaRPr lang="en-US"/>
          </a:p>
        </p:txBody>
      </p:sp>
      <p:pic>
        <p:nvPicPr>
          <p:cNvPr id="5" name="Picture 4" descr="A diagram of a class b&#10;&#10;Description automatically generated">
            <a:extLst>
              <a:ext uri="{FF2B5EF4-FFF2-40B4-BE49-F238E27FC236}">
                <a16:creationId xmlns:a16="http://schemas.microsoft.com/office/drawing/2014/main" id="{CC6D9FC1-5A30-C512-6CEB-2A3C93009D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915" y="1777975"/>
            <a:ext cx="2941510" cy="21133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6D7C335-E13A-D221-5D7E-8AED7A7B9FC5}"/>
              </a:ext>
            </a:extLst>
          </p:cNvPr>
          <p:cNvSpPr txBox="1"/>
          <p:nvPr/>
        </p:nvSpPr>
        <p:spPr>
          <a:xfrm>
            <a:off x="3821193" y="1442592"/>
            <a:ext cx="468868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Calibri"/>
              </a:rPr>
              <a:t>Best results with </a:t>
            </a:r>
            <a:r>
              <a:rPr lang="en-US" b="1">
                <a:latin typeface="Calibri"/>
              </a:rPr>
              <a:t>3 </a:t>
            </a:r>
            <a:r>
              <a:rPr lang="en-US">
                <a:latin typeface="Calibri"/>
              </a:rPr>
              <a:t>neighbor voting and </a:t>
            </a:r>
            <a:r>
              <a:rPr lang="en-US" b="1" err="1">
                <a:latin typeface="Calibri"/>
              </a:rPr>
              <a:t>Mahalanobis</a:t>
            </a:r>
            <a:r>
              <a:rPr lang="en-US" b="1">
                <a:latin typeface="Calibri"/>
              </a:rPr>
              <a:t> Distance</a:t>
            </a:r>
            <a:endParaRPr lang="en-US">
              <a:latin typeface="Calibri"/>
            </a:endParaRPr>
          </a:p>
        </p:txBody>
      </p:sp>
      <p:pic>
        <p:nvPicPr>
          <p:cNvPr id="7" name="Picture 6" descr="Mahalanobis Distance - Understanding the math with examples (python ...">
            <a:extLst>
              <a:ext uri="{FF2B5EF4-FFF2-40B4-BE49-F238E27FC236}">
                <a16:creationId xmlns:a16="http://schemas.microsoft.com/office/drawing/2014/main" id="{0955162C-95A5-315F-3307-867B4091E68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855" r="1939" b="-833"/>
          <a:stretch/>
        </p:blipFill>
        <p:spPr>
          <a:xfrm>
            <a:off x="4913613" y="1762795"/>
            <a:ext cx="2690021" cy="5226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1A151B6-5B32-B049-7DE6-6187716D8AD0}"/>
              </a:ext>
            </a:extLst>
          </p:cNvPr>
          <p:cNvSpPr txBox="1"/>
          <p:nvPr/>
        </p:nvSpPr>
        <p:spPr>
          <a:xfrm>
            <a:off x="3131748" y="4143236"/>
            <a:ext cx="4654711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latin typeface="Calibri"/>
                <a:cs typeface="Calibri"/>
              </a:rPr>
              <a:t>Key Takeaway: </a:t>
            </a:r>
            <a:r>
              <a:rPr lang="en-US" sz="1200">
                <a:latin typeface="Calibri"/>
                <a:cs typeface="Calibri"/>
              </a:rPr>
              <a:t>KNN had a peak accuracy of 69%</a:t>
            </a:r>
            <a:r>
              <a:rPr lang="en-US" sz="1600">
                <a:latin typeface="Calibri"/>
                <a:cs typeface="Calibri"/>
              </a:rPr>
              <a:t> 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6D5AEB8D-EF32-A11E-9FE3-5351C685EB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6566337"/>
              </p:ext>
            </p:extLst>
          </p:nvPr>
        </p:nvGraphicFramePr>
        <p:xfrm>
          <a:off x="5459487" y="2571520"/>
          <a:ext cx="1663685" cy="895580"/>
        </p:xfrm>
        <a:graphic>
          <a:graphicData uri="http://schemas.openxmlformats.org/drawingml/2006/table">
            <a:tbl>
              <a:tblPr bandRow="1">
                <a:tableStyleId>{2EF4CF9B-4981-4E52-BA71-EF0F57D9D07F}</a:tableStyleId>
              </a:tblPr>
              <a:tblGrid>
                <a:gridCol w="596894">
                  <a:extLst>
                    <a:ext uri="{9D8B030D-6E8A-4147-A177-3AD203B41FA5}">
                      <a16:colId xmlns:a16="http://schemas.microsoft.com/office/drawing/2014/main" val="3629251745"/>
                    </a:ext>
                  </a:extLst>
                </a:gridCol>
                <a:gridCol w="660397">
                  <a:extLst>
                    <a:ext uri="{9D8B030D-6E8A-4147-A177-3AD203B41FA5}">
                      <a16:colId xmlns:a16="http://schemas.microsoft.com/office/drawing/2014/main" val="21936948"/>
                    </a:ext>
                  </a:extLst>
                </a:gridCol>
                <a:gridCol w="406394">
                  <a:extLst>
                    <a:ext uri="{9D8B030D-6E8A-4147-A177-3AD203B41FA5}">
                      <a16:colId xmlns:a16="http://schemas.microsoft.com/office/drawing/2014/main" val="343527967"/>
                    </a:ext>
                  </a:extLst>
                </a:gridCol>
              </a:tblGrid>
              <a:tr h="202387">
                <a:tc>
                  <a:txBody>
                    <a:bodyPr/>
                    <a:lstStyle/>
                    <a:p>
                      <a:pPr rtl="0" fontAlgn="base"/>
                      <a:r>
                        <a:rPr lang="en-US" sz="1100">
                          <a:effectLst/>
                          <a:latin typeface="Aptos Narrow"/>
                        </a:rPr>
                        <a:t>Model 2</a:t>
                      </a:r>
                      <a:endParaRPr lang="en-US">
                        <a:effectLst/>
                        <a:latin typeface="Aptos Narrow"/>
                      </a:endParaRPr>
                    </a:p>
                  </a:txBody>
                  <a:tcPr marL="10535" marR="10535" marT="10535" anchor="b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/>
                      <a:r>
                        <a:rPr lang="en-US" sz="1100">
                          <a:effectLst/>
                          <a:latin typeface="Aptos Narrow"/>
                        </a:rPr>
                        <a:t>Domain </a:t>
                      </a:r>
                      <a:endParaRPr lang="en-US">
                        <a:effectLst/>
                        <a:latin typeface="Aptos Narrow"/>
                      </a:endParaRPr>
                    </a:p>
                  </a:txBody>
                  <a:tcPr marL="10535" marR="10535" marT="10535" anchor="b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/>
                      <a:r>
                        <a:rPr lang="en-US" sz="1100">
                          <a:effectLst/>
                          <a:latin typeface="Aptos Narrow"/>
                        </a:rPr>
                        <a:t>KNN</a:t>
                      </a:r>
                      <a:endParaRPr lang="en-US">
                        <a:effectLst/>
                        <a:latin typeface="Aptos Narrow"/>
                      </a:endParaRPr>
                    </a:p>
                  </a:txBody>
                  <a:tcPr marL="10535" marR="10535" marT="10535" anchor="b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4069524"/>
                  </a:ext>
                </a:extLst>
              </a:tr>
              <a:tr h="202387">
                <a:tc>
                  <a:txBody>
                    <a:bodyPr/>
                    <a:lstStyle/>
                    <a:p>
                      <a:pPr rtl="0" fontAlgn="auto"/>
                      <a:endParaRPr lang="en-US" sz="1100"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535" marR="10535" marT="10535" anchor="b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/>
                      <a:r>
                        <a:rPr lang="en-US" sz="1100">
                          <a:effectLst/>
                          <a:latin typeface="Aptos Narrow"/>
                        </a:rPr>
                        <a:t>Time</a:t>
                      </a:r>
                      <a:endParaRPr lang="en-US">
                        <a:effectLst/>
                        <a:latin typeface="Aptos Narrow"/>
                      </a:endParaRPr>
                    </a:p>
                  </a:txBody>
                  <a:tcPr marL="10535" marR="10535" marT="10535" anchor="b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1100">
                          <a:effectLst/>
                          <a:latin typeface="Aptos Narrow"/>
                        </a:rPr>
                        <a:t>0.31</a:t>
                      </a:r>
                      <a:endParaRPr lang="en-US">
                        <a:effectLst/>
                        <a:latin typeface="Aptos Narrow"/>
                      </a:endParaRPr>
                    </a:p>
                  </a:txBody>
                  <a:tcPr marL="10535" marR="10535" marT="10535" anchor="b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9376798"/>
                  </a:ext>
                </a:extLst>
              </a:tr>
              <a:tr h="202387">
                <a:tc>
                  <a:txBody>
                    <a:bodyPr/>
                    <a:lstStyle/>
                    <a:p>
                      <a:pPr rtl="0" fontAlgn="auto"/>
                      <a:endParaRPr lang="en-US" sz="1100"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535" marR="10535" marT="10535" anchor="b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/>
                      <a:r>
                        <a:rPr lang="en-US" sz="1100">
                          <a:effectLst/>
                          <a:latin typeface="Aptos Narrow"/>
                        </a:rPr>
                        <a:t>Frequency</a:t>
                      </a:r>
                      <a:endParaRPr lang="en-US">
                        <a:effectLst/>
                        <a:latin typeface="Aptos Narrow"/>
                      </a:endParaRPr>
                    </a:p>
                  </a:txBody>
                  <a:tcPr marL="10535" marR="10535" marT="10535" anchor="b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1100">
                          <a:effectLst/>
                          <a:latin typeface="Aptos Narrow"/>
                        </a:rPr>
                        <a:t>0.58</a:t>
                      </a:r>
                      <a:endParaRPr lang="en-US">
                        <a:effectLst/>
                        <a:latin typeface="Aptos Narrow"/>
                      </a:endParaRPr>
                    </a:p>
                  </a:txBody>
                  <a:tcPr marL="10535" marR="10535" marT="10535" anchor="b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1317663"/>
                  </a:ext>
                </a:extLst>
              </a:tr>
              <a:tr h="202387">
                <a:tc>
                  <a:txBody>
                    <a:bodyPr/>
                    <a:lstStyle/>
                    <a:p>
                      <a:pPr rtl="0" fontAlgn="auto"/>
                      <a:endParaRPr lang="en-US" sz="1100"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535" marR="10535" marT="10535" anchor="b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/>
                      <a:r>
                        <a:rPr lang="en-US" sz="1100">
                          <a:effectLst/>
                          <a:latin typeface="Aptos Narrow"/>
                        </a:rPr>
                        <a:t>Morlet</a:t>
                      </a:r>
                      <a:endParaRPr lang="en-US">
                        <a:effectLst/>
                      </a:endParaRPr>
                    </a:p>
                  </a:txBody>
                  <a:tcPr marL="10535" marR="10535" marT="10535" anchor="b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1100">
                          <a:effectLst/>
                          <a:latin typeface="Aptos Narrow"/>
                        </a:rPr>
                        <a:t>0.483</a:t>
                      </a:r>
                      <a:endParaRPr lang="en-US">
                        <a:effectLst/>
                        <a:latin typeface="Aptos Narrow"/>
                      </a:endParaRPr>
                    </a:p>
                  </a:txBody>
                  <a:tcPr marL="10535" marR="10535" marT="10535" anchor="b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3076605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61E82CE-B454-74E5-6E52-E8F1423265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6606779"/>
              </p:ext>
            </p:extLst>
          </p:nvPr>
        </p:nvGraphicFramePr>
        <p:xfrm>
          <a:off x="3531765" y="2571520"/>
          <a:ext cx="1739275" cy="895593"/>
        </p:xfrm>
        <a:graphic>
          <a:graphicData uri="http://schemas.openxmlformats.org/drawingml/2006/table">
            <a:tbl>
              <a:tblPr bandRow="1">
                <a:tableStyleId>{2EF4CF9B-4981-4E52-BA71-EF0F57D9D07F}</a:tableStyleId>
              </a:tblPr>
              <a:tblGrid>
                <a:gridCol w="596894">
                  <a:extLst>
                    <a:ext uri="{9D8B030D-6E8A-4147-A177-3AD203B41FA5}">
                      <a16:colId xmlns:a16="http://schemas.microsoft.com/office/drawing/2014/main" val="4216141549"/>
                    </a:ext>
                  </a:extLst>
                </a:gridCol>
                <a:gridCol w="660397">
                  <a:extLst>
                    <a:ext uri="{9D8B030D-6E8A-4147-A177-3AD203B41FA5}">
                      <a16:colId xmlns:a16="http://schemas.microsoft.com/office/drawing/2014/main" val="2103933515"/>
                    </a:ext>
                  </a:extLst>
                </a:gridCol>
                <a:gridCol w="481984">
                  <a:extLst>
                    <a:ext uri="{9D8B030D-6E8A-4147-A177-3AD203B41FA5}">
                      <a16:colId xmlns:a16="http://schemas.microsoft.com/office/drawing/2014/main" val="2604848707"/>
                    </a:ext>
                  </a:extLst>
                </a:gridCol>
              </a:tblGrid>
              <a:tr h="202387">
                <a:tc>
                  <a:txBody>
                    <a:bodyPr/>
                    <a:lstStyle/>
                    <a:p>
                      <a:pPr rtl="0" fontAlgn="base"/>
                      <a:r>
                        <a:rPr lang="en-US" sz="1100">
                          <a:effectLst/>
                          <a:latin typeface="Aptos Narrow"/>
                        </a:rPr>
                        <a:t>Model 1</a:t>
                      </a:r>
                      <a:endParaRPr lang="en-US">
                        <a:effectLst/>
                        <a:latin typeface="Aptos Narrow"/>
                      </a:endParaRPr>
                    </a:p>
                  </a:txBody>
                  <a:tcPr marL="10535" marR="10535" marT="10535" anchor="b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/>
                      <a:r>
                        <a:rPr lang="en-US" sz="1100">
                          <a:effectLst/>
                          <a:latin typeface="Aptos Narrow"/>
                        </a:rPr>
                        <a:t>Domain </a:t>
                      </a:r>
                      <a:endParaRPr lang="en-US">
                        <a:effectLst/>
                        <a:latin typeface="Aptos Narrow"/>
                      </a:endParaRPr>
                    </a:p>
                  </a:txBody>
                  <a:tcPr marL="10535" marR="10535" marT="10535" anchor="b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/>
                      <a:r>
                        <a:rPr lang="en-US" sz="1100">
                          <a:effectLst/>
                          <a:latin typeface="Aptos Narrow"/>
                        </a:rPr>
                        <a:t>KNN</a:t>
                      </a:r>
                      <a:endParaRPr lang="en-US">
                        <a:effectLst/>
                        <a:latin typeface="Aptos Narrow"/>
                      </a:endParaRPr>
                    </a:p>
                  </a:txBody>
                  <a:tcPr marL="10535" marR="10535" marT="10535" anchor="b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6609899"/>
                  </a:ext>
                </a:extLst>
              </a:tr>
              <a:tr h="202387">
                <a:tc>
                  <a:txBody>
                    <a:bodyPr/>
                    <a:lstStyle/>
                    <a:p>
                      <a:pPr rtl="0" fontAlgn="auto"/>
                      <a:endParaRPr lang="en-US" sz="1100"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535" marR="10535" marT="10535" anchor="b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/>
                      <a:r>
                        <a:rPr lang="en-US" sz="1100">
                          <a:effectLst/>
                          <a:latin typeface="Aptos Narrow"/>
                        </a:rPr>
                        <a:t>Time</a:t>
                      </a:r>
                      <a:endParaRPr lang="en-US">
                        <a:effectLst/>
                        <a:latin typeface="Aptos Narrow"/>
                      </a:endParaRPr>
                    </a:p>
                  </a:txBody>
                  <a:tcPr marL="10535" marR="10535" marT="10535" anchor="b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1100">
                          <a:effectLst/>
                          <a:latin typeface="Aptos Narrow"/>
                        </a:rPr>
                        <a:t>0.2</a:t>
                      </a:r>
                      <a:endParaRPr lang="en-US">
                        <a:effectLst/>
                        <a:latin typeface="Aptos Narrow"/>
                      </a:endParaRPr>
                    </a:p>
                  </a:txBody>
                  <a:tcPr marL="10535" marR="10535" marT="10535" anchor="b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6093641"/>
                  </a:ext>
                </a:extLst>
              </a:tr>
              <a:tr h="223908">
                <a:tc>
                  <a:txBody>
                    <a:bodyPr/>
                    <a:lstStyle/>
                    <a:p>
                      <a:pPr rtl="0" fontAlgn="auto"/>
                      <a:endParaRPr lang="en-US" sz="1100"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535" marR="10535" marT="10535" anchor="b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/>
                      <a:r>
                        <a:rPr lang="en-US" sz="1100">
                          <a:effectLst/>
                          <a:latin typeface="Aptos Narrow"/>
                        </a:rPr>
                        <a:t>Frequency</a:t>
                      </a:r>
                      <a:endParaRPr lang="en-US">
                        <a:effectLst/>
                        <a:latin typeface="Aptos Narrow"/>
                      </a:endParaRPr>
                    </a:p>
                  </a:txBody>
                  <a:tcPr marL="10535" marR="10535" marT="10535" anchor="b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1100">
                          <a:effectLst/>
                          <a:latin typeface="Aptos Narrow"/>
                        </a:rPr>
                        <a:t>0.666</a:t>
                      </a:r>
                      <a:endParaRPr lang="en-US">
                        <a:effectLst/>
                        <a:latin typeface="Aptos Narrow"/>
                      </a:endParaRPr>
                    </a:p>
                  </a:txBody>
                  <a:tcPr marL="10535" marR="10535" marT="10535" anchor="b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1947254"/>
                  </a:ext>
                </a:extLst>
              </a:tr>
              <a:tr h="202387">
                <a:tc>
                  <a:txBody>
                    <a:bodyPr/>
                    <a:lstStyle/>
                    <a:p>
                      <a:pPr rtl="0" fontAlgn="auto"/>
                      <a:endParaRPr lang="en-US" sz="1100"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535" marR="10535" marT="10535" anchor="b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/>
                      <a:r>
                        <a:rPr lang="en-US" sz="1100">
                          <a:effectLst/>
                          <a:latin typeface="Aptos Narrow"/>
                        </a:rPr>
                        <a:t>Motlet</a:t>
                      </a:r>
                      <a:endParaRPr lang="en-US" err="1">
                        <a:effectLst/>
                      </a:endParaRPr>
                    </a:p>
                  </a:txBody>
                  <a:tcPr marL="10535" marR="10535" marT="10535" anchor="b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1100">
                          <a:effectLst/>
                          <a:latin typeface="Aptos Narrow"/>
                        </a:rPr>
                        <a:t>0.466</a:t>
                      </a:r>
                      <a:endParaRPr lang="en-US">
                        <a:effectLst/>
                        <a:latin typeface="Aptos Narrow"/>
                      </a:endParaRPr>
                    </a:p>
                  </a:txBody>
                  <a:tcPr marL="10535" marR="10535" marT="10535" anchor="b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0598486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7CB4B0AD-43F8-EE4B-CBD9-65462EBB4A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925831"/>
              </p:ext>
            </p:extLst>
          </p:nvPr>
        </p:nvGraphicFramePr>
        <p:xfrm>
          <a:off x="7267325" y="2571520"/>
          <a:ext cx="1739275" cy="895580"/>
        </p:xfrm>
        <a:graphic>
          <a:graphicData uri="http://schemas.openxmlformats.org/drawingml/2006/table">
            <a:tbl>
              <a:tblPr bandRow="1">
                <a:tableStyleId>{2EF4CF9B-4981-4E52-BA71-EF0F57D9D07F}</a:tableStyleId>
              </a:tblPr>
              <a:tblGrid>
                <a:gridCol w="596894">
                  <a:extLst>
                    <a:ext uri="{9D8B030D-6E8A-4147-A177-3AD203B41FA5}">
                      <a16:colId xmlns:a16="http://schemas.microsoft.com/office/drawing/2014/main" val="3258933319"/>
                    </a:ext>
                  </a:extLst>
                </a:gridCol>
                <a:gridCol w="660397">
                  <a:extLst>
                    <a:ext uri="{9D8B030D-6E8A-4147-A177-3AD203B41FA5}">
                      <a16:colId xmlns:a16="http://schemas.microsoft.com/office/drawing/2014/main" val="2032235660"/>
                    </a:ext>
                  </a:extLst>
                </a:gridCol>
                <a:gridCol w="481984">
                  <a:extLst>
                    <a:ext uri="{9D8B030D-6E8A-4147-A177-3AD203B41FA5}">
                      <a16:colId xmlns:a16="http://schemas.microsoft.com/office/drawing/2014/main" val="3590434392"/>
                    </a:ext>
                  </a:extLst>
                </a:gridCol>
              </a:tblGrid>
              <a:tr h="202387">
                <a:tc>
                  <a:txBody>
                    <a:bodyPr/>
                    <a:lstStyle/>
                    <a:p>
                      <a:pPr rtl="0" fontAlgn="base"/>
                      <a:r>
                        <a:rPr lang="en-US" sz="1100">
                          <a:effectLst/>
                          <a:latin typeface="Aptos Narrow"/>
                        </a:rPr>
                        <a:t>Model 3</a:t>
                      </a:r>
                      <a:endParaRPr lang="en-US">
                        <a:effectLst/>
                        <a:latin typeface="Aptos Narrow"/>
                      </a:endParaRPr>
                    </a:p>
                  </a:txBody>
                  <a:tcPr marL="10535" marR="10535" marT="10535" anchor="b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/>
                      <a:r>
                        <a:rPr lang="en-US" sz="1100">
                          <a:effectLst/>
                          <a:latin typeface="Aptos Narrow"/>
                        </a:rPr>
                        <a:t>Domain </a:t>
                      </a:r>
                      <a:endParaRPr lang="en-US">
                        <a:effectLst/>
                        <a:latin typeface="Aptos Narrow"/>
                      </a:endParaRPr>
                    </a:p>
                  </a:txBody>
                  <a:tcPr marL="10535" marR="10535" marT="10535" anchor="b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/>
                      <a:r>
                        <a:rPr lang="en-US" sz="1100">
                          <a:effectLst/>
                          <a:latin typeface="Aptos Narrow"/>
                        </a:rPr>
                        <a:t>KNN</a:t>
                      </a:r>
                      <a:endParaRPr lang="en-US">
                        <a:effectLst/>
                        <a:latin typeface="Aptos Narrow"/>
                      </a:endParaRPr>
                    </a:p>
                  </a:txBody>
                  <a:tcPr marL="10535" marR="10535" marT="10535" anchor="b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6307510"/>
                  </a:ext>
                </a:extLst>
              </a:tr>
              <a:tr h="202387">
                <a:tc>
                  <a:txBody>
                    <a:bodyPr/>
                    <a:lstStyle/>
                    <a:p>
                      <a:pPr rtl="0" fontAlgn="auto"/>
                      <a:endParaRPr lang="en-US" sz="1100"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535" marR="10535" marT="10535" anchor="b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/>
                      <a:r>
                        <a:rPr lang="en-US" sz="1100">
                          <a:effectLst/>
                          <a:latin typeface="Aptos Narrow"/>
                        </a:rPr>
                        <a:t>Time</a:t>
                      </a:r>
                      <a:endParaRPr lang="en-US">
                        <a:effectLst/>
                        <a:latin typeface="Aptos Narrow"/>
                      </a:endParaRPr>
                    </a:p>
                  </a:txBody>
                  <a:tcPr marL="10535" marR="10535" marT="10535" anchor="b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1100">
                          <a:effectLst/>
                          <a:latin typeface="Aptos Narrow"/>
                        </a:rPr>
                        <a:t>0.416</a:t>
                      </a:r>
                      <a:endParaRPr lang="en-US">
                        <a:effectLst/>
                        <a:latin typeface="Aptos Narrow"/>
                      </a:endParaRPr>
                    </a:p>
                  </a:txBody>
                  <a:tcPr marL="10535" marR="10535" marT="10535" anchor="b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8767932"/>
                  </a:ext>
                </a:extLst>
              </a:tr>
              <a:tr h="202387">
                <a:tc>
                  <a:txBody>
                    <a:bodyPr/>
                    <a:lstStyle/>
                    <a:p>
                      <a:pPr rtl="0" fontAlgn="auto"/>
                      <a:endParaRPr lang="en-US" sz="1100"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535" marR="10535" marT="10535" anchor="b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/>
                      <a:r>
                        <a:rPr lang="en-US" sz="1100">
                          <a:effectLst/>
                          <a:latin typeface="Aptos Narrow"/>
                        </a:rPr>
                        <a:t>Frequency</a:t>
                      </a:r>
                      <a:endParaRPr lang="en-US">
                        <a:effectLst/>
                        <a:latin typeface="Aptos Narrow"/>
                      </a:endParaRPr>
                    </a:p>
                  </a:txBody>
                  <a:tcPr marL="10535" marR="10535" marT="10535" anchor="b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1100">
                          <a:effectLst/>
                          <a:latin typeface="Aptos Narrow"/>
                        </a:rPr>
                        <a:t>0.692</a:t>
                      </a:r>
                      <a:endParaRPr lang="en-US">
                        <a:effectLst/>
                        <a:latin typeface="Aptos Narrow"/>
                      </a:endParaRPr>
                    </a:p>
                  </a:txBody>
                  <a:tcPr marL="10535" marR="10535" marT="10535" anchor="b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4778838"/>
                  </a:ext>
                </a:extLst>
              </a:tr>
              <a:tr h="202387">
                <a:tc>
                  <a:txBody>
                    <a:bodyPr/>
                    <a:lstStyle/>
                    <a:p>
                      <a:pPr rtl="0" fontAlgn="auto"/>
                      <a:endParaRPr lang="en-US" sz="1100"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535" marR="10535" marT="10535" anchor="b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/>
                      <a:r>
                        <a:rPr lang="en-US" sz="1100">
                          <a:effectLst/>
                          <a:latin typeface="Aptos Narrow"/>
                        </a:rPr>
                        <a:t>Motlet</a:t>
                      </a:r>
                      <a:endParaRPr lang="en-US" err="1">
                        <a:effectLst/>
                      </a:endParaRPr>
                    </a:p>
                  </a:txBody>
                  <a:tcPr marL="10535" marR="10535" marT="10535" anchor="b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ase"/>
                      <a:r>
                        <a:rPr lang="en-US" sz="1100">
                          <a:effectLst/>
                          <a:latin typeface="Aptos Narrow"/>
                        </a:rPr>
                        <a:t>0.43</a:t>
                      </a:r>
                      <a:endParaRPr lang="en-US">
                        <a:effectLst/>
                        <a:latin typeface="Aptos Narrow"/>
                      </a:endParaRPr>
                    </a:p>
                  </a:txBody>
                  <a:tcPr marL="10535" marR="10535" marT="10535" anchor="b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80943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3613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F727C-8683-F793-25C8-E0A0D44C2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Random Forest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480D7-D437-3238-D252-6815EB1236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sz="1400" b="1" u="sng"/>
              <a:t>Theory</a:t>
            </a:r>
            <a:endParaRPr lang="en-US" sz="1400"/>
          </a:p>
          <a:p>
            <a:pPr marL="139700" indent="0">
              <a:buNone/>
            </a:pPr>
            <a:r>
              <a:rPr lang="en-US" sz="1400"/>
              <a:t>Random Forest generates many 'trees' and uses them to perform classification of the drill types using an aggregation of each result</a:t>
            </a:r>
            <a:endParaRPr lang="en-US"/>
          </a:p>
        </p:txBody>
      </p:sp>
      <p:pic>
        <p:nvPicPr>
          <p:cNvPr id="5" name="Picture 4" descr="A diagram of a tree&#10;&#10;Description automatically generated">
            <a:extLst>
              <a:ext uri="{FF2B5EF4-FFF2-40B4-BE49-F238E27FC236}">
                <a16:creationId xmlns:a16="http://schemas.microsoft.com/office/drawing/2014/main" id="{65E475DD-7BC4-B198-6F56-6EB1C58089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201" y="1516779"/>
            <a:ext cx="2832102" cy="20819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0034992-0127-A46B-84A5-202C4AEC3163}"/>
              </a:ext>
            </a:extLst>
          </p:cNvPr>
          <p:cNvSpPr txBox="1"/>
          <p:nvPr/>
        </p:nvSpPr>
        <p:spPr>
          <a:xfrm>
            <a:off x="3808346" y="3289327"/>
            <a:ext cx="328810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The random forest used </a:t>
            </a:r>
            <a:r>
              <a:rPr lang="en-US" b="1"/>
              <a:t>n = 500 trees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0F345F-0F2E-C326-4CE0-A2353079208E}"/>
              </a:ext>
            </a:extLst>
          </p:cNvPr>
          <p:cNvSpPr txBox="1"/>
          <p:nvPr/>
        </p:nvSpPr>
        <p:spPr>
          <a:xfrm>
            <a:off x="2408351" y="4190052"/>
            <a:ext cx="7554515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latin typeface="Calibri"/>
                <a:cs typeface="Calibri"/>
              </a:rPr>
              <a:t>Key Takeaway:</a:t>
            </a:r>
            <a:r>
              <a:rPr lang="en-US" sz="1200">
                <a:latin typeface="Calibri"/>
                <a:cs typeface="Calibri"/>
              </a:rPr>
              <a:t> The random forest was easy and effective with a max accuracy of 0.78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289C0598-562C-8DB1-C2CC-5E6B3AB0AB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9563921"/>
              </p:ext>
            </p:extLst>
          </p:nvPr>
        </p:nvGraphicFramePr>
        <p:xfrm>
          <a:off x="3302362" y="2116194"/>
          <a:ext cx="1727291" cy="911961"/>
        </p:xfrm>
        <a:graphic>
          <a:graphicData uri="http://schemas.openxmlformats.org/drawingml/2006/table">
            <a:tbl>
              <a:tblPr bandRow="1">
                <a:tableStyleId>{2EF4CF9B-4981-4E52-BA71-EF0F57D9D07F}</a:tableStyleId>
              </a:tblPr>
              <a:tblGrid>
                <a:gridCol w="533114">
                  <a:extLst>
                    <a:ext uri="{9D8B030D-6E8A-4147-A177-3AD203B41FA5}">
                      <a16:colId xmlns:a16="http://schemas.microsoft.com/office/drawing/2014/main" val="2781506016"/>
                    </a:ext>
                  </a:extLst>
                </a:gridCol>
                <a:gridCol w="629075">
                  <a:extLst>
                    <a:ext uri="{9D8B030D-6E8A-4147-A177-3AD203B41FA5}">
                      <a16:colId xmlns:a16="http://schemas.microsoft.com/office/drawing/2014/main" val="2780704666"/>
                    </a:ext>
                  </a:extLst>
                </a:gridCol>
                <a:gridCol w="565102">
                  <a:extLst>
                    <a:ext uri="{9D8B030D-6E8A-4147-A177-3AD203B41FA5}">
                      <a16:colId xmlns:a16="http://schemas.microsoft.com/office/drawing/2014/main" val="3719450746"/>
                    </a:ext>
                  </a:extLst>
                </a:gridCol>
              </a:tblGrid>
              <a:tr h="202387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Model 1</a:t>
                      </a:r>
                      <a:endParaRPr lang="en-US" sz="1000" b="0" i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Domain </a:t>
                      </a:r>
                      <a:endParaRPr lang="en-US" sz="1000" b="0" i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Random Forest</a:t>
                      </a:r>
                      <a:endParaRPr lang="en-US" sz="1000" b="0" i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144" marR="0" marT="0" marB="0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7158855"/>
                  </a:ext>
                </a:extLst>
              </a:tr>
              <a:tr h="202387">
                <a:tc>
                  <a:txBody>
                    <a:bodyPr/>
                    <a:lstStyle/>
                    <a:p>
                      <a:pPr algn="l" rtl="0" fontAlgn="auto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Time</a:t>
                      </a:r>
                      <a:endParaRPr lang="en-US" sz="1000" b="0" i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0.283</a:t>
                      </a:r>
                      <a:endParaRPr lang="en-US" sz="1000" b="0" i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874967"/>
                  </a:ext>
                </a:extLst>
              </a:tr>
              <a:tr h="202387">
                <a:tc>
                  <a:txBody>
                    <a:bodyPr/>
                    <a:lstStyle/>
                    <a:p>
                      <a:pPr algn="l" rtl="0" fontAlgn="auto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Frequency</a:t>
                      </a:r>
                      <a:endParaRPr lang="en-US" sz="1000" b="0" i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0.783</a:t>
                      </a:r>
                      <a:endParaRPr lang="en-US" sz="1000" b="0" i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422294"/>
                  </a:ext>
                </a:extLst>
              </a:tr>
              <a:tr h="202387">
                <a:tc>
                  <a:txBody>
                    <a:bodyPr/>
                    <a:lstStyle/>
                    <a:p>
                      <a:pPr algn="l" rtl="0" fontAlgn="auto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Morlet</a:t>
                      </a:r>
                      <a:endParaRPr lang="en-US" sz="1000" b="0" i="0" err="1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0.55</a:t>
                      </a:r>
                      <a:endParaRPr lang="en-US" sz="1000" b="0" i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198244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13D4EF54-7E6C-4B60-2C5F-948E4C2DD6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9320488"/>
              </p:ext>
            </p:extLst>
          </p:nvPr>
        </p:nvGraphicFramePr>
        <p:xfrm>
          <a:off x="5238637" y="2108130"/>
          <a:ext cx="1823255" cy="916998"/>
        </p:xfrm>
        <a:graphic>
          <a:graphicData uri="http://schemas.openxmlformats.org/drawingml/2006/table">
            <a:tbl>
              <a:tblPr bandRow="1">
                <a:tableStyleId>{2EF4CF9B-4981-4E52-BA71-EF0F57D9D07F}</a:tableStyleId>
              </a:tblPr>
              <a:tblGrid>
                <a:gridCol w="554440">
                  <a:extLst>
                    <a:ext uri="{9D8B030D-6E8A-4147-A177-3AD203B41FA5}">
                      <a16:colId xmlns:a16="http://schemas.microsoft.com/office/drawing/2014/main" val="2345798902"/>
                    </a:ext>
                  </a:extLst>
                </a:gridCol>
                <a:gridCol w="650401">
                  <a:extLst>
                    <a:ext uri="{9D8B030D-6E8A-4147-A177-3AD203B41FA5}">
                      <a16:colId xmlns:a16="http://schemas.microsoft.com/office/drawing/2014/main" val="743618230"/>
                    </a:ext>
                  </a:extLst>
                </a:gridCol>
                <a:gridCol w="618414">
                  <a:extLst>
                    <a:ext uri="{9D8B030D-6E8A-4147-A177-3AD203B41FA5}">
                      <a16:colId xmlns:a16="http://schemas.microsoft.com/office/drawing/2014/main" val="207333454"/>
                    </a:ext>
                  </a:extLst>
                </a:gridCol>
              </a:tblGrid>
              <a:tr h="320949">
                <a:tc>
                  <a:txBody>
                    <a:bodyPr/>
                    <a:lstStyle/>
                    <a:p>
                      <a:pPr marR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Narrow"/>
                          <a:cs typeface="Arial"/>
                          <a:sym typeface="Arial"/>
                        </a:rPr>
                        <a:t>Model 2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Narrow"/>
                          <a:cs typeface="Arial"/>
                          <a:sym typeface="Arial"/>
                        </a:rPr>
                        <a:t>Domain 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Narrow"/>
                          <a:cs typeface="Arial"/>
                          <a:sym typeface="Arial"/>
                        </a:rPr>
                        <a:t>Random Forest</a:t>
                      </a:r>
                    </a:p>
                  </a:txBody>
                  <a:tcPr marL="9144" marR="0" marT="0" marB="0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4776801"/>
                  </a:ext>
                </a:extLst>
              </a:tr>
              <a:tr h="217787">
                <a:tc>
                  <a:txBody>
                    <a:bodyPr/>
                    <a:lstStyle/>
                    <a:p>
                      <a:pPr marR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Narrow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Narrow"/>
                          <a:cs typeface="Arial"/>
                          <a:sym typeface="Arial"/>
                        </a:rPr>
                        <a:t>Time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Narrow"/>
                          <a:cs typeface="Arial"/>
                          <a:sym typeface="Arial"/>
                        </a:rPr>
                        <a:t>0.36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7806276"/>
                  </a:ext>
                </a:extLst>
              </a:tr>
              <a:tr h="217787">
                <a:tc>
                  <a:txBody>
                    <a:bodyPr/>
                    <a:lstStyle/>
                    <a:p>
                      <a:pPr marR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Narrow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Narrow"/>
                          <a:cs typeface="Arial"/>
                          <a:sym typeface="Arial"/>
                        </a:rPr>
                        <a:t>Frequency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Narrow"/>
                          <a:cs typeface="Arial"/>
                          <a:sym typeface="Arial"/>
                        </a:rPr>
                        <a:t>0.716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7816114"/>
                  </a:ext>
                </a:extLst>
              </a:tr>
              <a:tr h="160475">
                <a:tc>
                  <a:txBody>
                    <a:bodyPr/>
                    <a:lstStyle/>
                    <a:p>
                      <a:pPr marR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Aptos Narrow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Narrow"/>
                          <a:cs typeface="Arial"/>
                        </a:rPr>
                        <a:t>Morlet</a:t>
                      </a:r>
                      <a:endParaRPr lang="en-US" sz="1000" b="0" i="0" u="none" strike="noStrike" cap="none" err="1">
                        <a:solidFill>
                          <a:srgbClr val="000000"/>
                        </a:solidFill>
                        <a:effectLst/>
                        <a:latin typeface="Aptos Narrow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 fontAlgn="base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Narrow"/>
                          <a:cs typeface="Arial"/>
                          <a:sym typeface="Arial"/>
                        </a:rPr>
                        <a:t>0.6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0630289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65C4BF1-3348-1746-5903-317C10457D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6015603"/>
              </p:ext>
            </p:extLst>
          </p:nvPr>
        </p:nvGraphicFramePr>
        <p:xfrm>
          <a:off x="7206977" y="2106426"/>
          <a:ext cx="1855240" cy="913197"/>
        </p:xfrm>
        <a:graphic>
          <a:graphicData uri="http://schemas.openxmlformats.org/drawingml/2006/table">
            <a:tbl>
              <a:tblPr bandRow="1">
                <a:tableStyleId>{2EF4CF9B-4981-4E52-BA71-EF0F57D9D07F}</a:tableStyleId>
              </a:tblPr>
              <a:tblGrid>
                <a:gridCol w="543776">
                  <a:extLst>
                    <a:ext uri="{9D8B030D-6E8A-4147-A177-3AD203B41FA5}">
                      <a16:colId xmlns:a16="http://schemas.microsoft.com/office/drawing/2014/main" val="1542450205"/>
                    </a:ext>
                  </a:extLst>
                </a:gridCol>
                <a:gridCol w="661063">
                  <a:extLst>
                    <a:ext uri="{9D8B030D-6E8A-4147-A177-3AD203B41FA5}">
                      <a16:colId xmlns:a16="http://schemas.microsoft.com/office/drawing/2014/main" val="831926944"/>
                    </a:ext>
                  </a:extLst>
                </a:gridCol>
                <a:gridCol w="650401">
                  <a:extLst>
                    <a:ext uri="{9D8B030D-6E8A-4147-A177-3AD203B41FA5}">
                      <a16:colId xmlns:a16="http://schemas.microsoft.com/office/drawing/2014/main" val="500710916"/>
                    </a:ext>
                  </a:extLst>
                </a:gridCol>
              </a:tblGrid>
              <a:tr h="202387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Model 3</a:t>
                      </a:r>
                      <a:endParaRPr lang="en-US" sz="1000" b="0" i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144" marR="0" marT="0" marB="0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Domain </a:t>
                      </a:r>
                      <a:endParaRPr lang="en-US" sz="1000" b="0" i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144" marR="0" marT="0" marB="0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Random Forest</a:t>
                      </a:r>
                      <a:endParaRPr lang="en-US" sz="1000" b="0" i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144" marR="0" marT="0" marB="0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4136124"/>
                  </a:ext>
                </a:extLst>
              </a:tr>
              <a:tr h="202387">
                <a:tc>
                  <a:txBody>
                    <a:bodyPr/>
                    <a:lstStyle/>
                    <a:p>
                      <a:pPr algn="l" rtl="0" fontAlgn="auto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144" marR="0" marT="0" marB="0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Time</a:t>
                      </a:r>
                      <a:endParaRPr lang="en-US" sz="1000" b="0" i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144" marR="0" marT="0" marB="0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0.358</a:t>
                      </a:r>
                      <a:endParaRPr lang="en-US" sz="1000" b="0" i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144" marR="0" marT="0" marB="0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8568013"/>
                  </a:ext>
                </a:extLst>
              </a:tr>
              <a:tr h="171440">
                <a:tc>
                  <a:txBody>
                    <a:bodyPr/>
                    <a:lstStyle/>
                    <a:p>
                      <a:pPr algn="l" rtl="0" fontAlgn="auto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144" marR="0" marT="0" marB="0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Frequency</a:t>
                      </a:r>
                      <a:endParaRPr lang="en-US" sz="1000" b="0" i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144" marR="0" marT="0" marB="0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0.708</a:t>
                      </a:r>
                      <a:endParaRPr lang="en-US" sz="1000" b="0" i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144" marR="0" marT="0" marB="0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6521772"/>
                  </a:ext>
                </a:extLst>
              </a:tr>
              <a:tr h="234570">
                <a:tc>
                  <a:txBody>
                    <a:bodyPr/>
                    <a:lstStyle/>
                    <a:p>
                      <a:pPr algn="l" rtl="0" fontAlgn="auto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144" marR="0" marT="0" marB="0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Morlet</a:t>
                      </a:r>
                      <a:endParaRPr lang="en-US" sz="1000" b="0" i="0" err="1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144" marR="0" marT="0" marB="0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0.55</a:t>
                      </a:r>
                      <a:endParaRPr lang="en-US" sz="1000" b="0" i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144" marR="0" marT="0" marB="0" anchor="ctr">
                    <a:lnL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97315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7546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55AF1-D45F-6A4C-A385-4993DB4B1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Deep Neural Network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8B42F5-64D9-52FE-04E2-C50F92A8A3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sz="1400" b="1" u="sng"/>
              <a:t>Theory</a:t>
            </a:r>
            <a:endParaRPr lang="en-US" sz="1400"/>
          </a:p>
          <a:p>
            <a:pPr marL="139700" indent="0">
              <a:buNone/>
            </a:pPr>
            <a:r>
              <a:rPr lang="en-US" sz="1400"/>
              <a:t>Neural Networks can approximate any function, and are very effective at a wide range of complex tasks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400">
              <a:latin typeface="Arial"/>
              <a:cs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400">
              <a:latin typeface="Arial"/>
              <a:cs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400">
              <a:latin typeface="Arial"/>
              <a:cs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u="sng">
                <a:latin typeface="Arial"/>
                <a:cs typeface="Arial"/>
              </a:rPr>
              <a:t>Chosen Architecture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</a:pPr>
            <a:r>
              <a:rPr lang="en-US" sz="1400">
                <a:latin typeface="Arial"/>
                <a:cs typeface="Arial"/>
              </a:rPr>
              <a:t>Combination of fully connected layers</a:t>
            </a:r>
            <a:endParaRPr lang="en-US"/>
          </a:p>
          <a:p>
            <a:pPr marL="285750" indent="-285750">
              <a:lnSpc>
                <a:spcPct val="100000"/>
              </a:lnSpc>
              <a:spcBef>
                <a:spcPts val="0"/>
              </a:spcBef>
            </a:pPr>
            <a:r>
              <a:rPr lang="en-US" sz="1400">
                <a:latin typeface="Arial"/>
                <a:cs typeface="Arial"/>
              </a:rPr>
              <a:t>batch normalization layers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</a:pPr>
            <a:r>
              <a:rPr lang="en-US" sz="1400" err="1">
                <a:latin typeface="Arial"/>
                <a:cs typeface="Arial"/>
              </a:rPr>
              <a:t>ReLU</a:t>
            </a:r>
            <a:r>
              <a:rPr lang="en-US" sz="1400">
                <a:latin typeface="Arial"/>
                <a:cs typeface="Arial"/>
              </a:rPr>
              <a:t> activations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</a:pPr>
            <a:r>
              <a:rPr lang="en-US" sz="1400">
                <a:latin typeface="Arial"/>
                <a:cs typeface="Arial"/>
              </a:rPr>
              <a:t>dropout layers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</a:pPr>
            <a:endParaRPr lang="en-US" sz="1400">
              <a:latin typeface="Arial"/>
              <a:cs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400">
              <a:latin typeface="Arial"/>
              <a:cs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400">
              <a:latin typeface="Arial"/>
              <a:cs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400">
              <a:latin typeface="Arial"/>
              <a:cs typeface="Arial"/>
            </a:endParaRPr>
          </a:p>
        </p:txBody>
      </p:sp>
      <p:pic>
        <p:nvPicPr>
          <p:cNvPr id="8" name="Picture 7" descr="Keras Layers - Everything you need to Know - TechVidvan">
            <a:extLst>
              <a:ext uri="{FF2B5EF4-FFF2-40B4-BE49-F238E27FC236}">
                <a16:creationId xmlns:a16="http://schemas.microsoft.com/office/drawing/2014/main" id="{50BB7FBC-B92F-5CE1-E43D-55F5A95A022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078" r="-312" b="608"/>
          <a:stretch/>
        </p:blipFill>
        <p:spPr>
          <a:xfrm>
            <a:off x="5976752" y="1313485"/>
            <a:ext cx="2982053" cy="1654093"/>
          </a:xfrm>
          <a:prstGeom prst="rect">
            <a:avLst/>
          </a:prstGeom>
        </p:spPr>
      </p:pic>
      <p:pic>
        <p:nvPicPr>
          <p:cNvPr id="9" name="Picture 8" descr="ReLU Activation Function [with python code] - Vidyasheela">
            <a:extLst>
              <a:ext uri="{FF2B5EF4-FFF2-40B4-BE49-F238E27FC236}">
                <a16:creationId xmlns:a16="http://schemas.microsoft.com/office/drawing/2014/main" id="{BC978F6C-681D-FF4B-4F5F-BCFC6AC26C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6752" y="2971533"/>
            <a:ext cx="2982036" cy="164769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75D202E-E150-4BDB-4FD2-49593E33DF28}"/>
              </a:ext>
            </a:extLst>
          </p:cNvPr>
          <p:cNvSpPr txBox="1"/>
          <p:nvPr/>
        </p:nvSpPr>
        <p:spPr>
          <a:xfrm>
            <a:off x="2014750" y="4228247"/>
            <a:ext cx="7673453" cy="4924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latin typeface="Calibri"/>
                <a:cs typeface="Calibri"/>
              </a:rPr>
              <a:t>Key Takeaway:</a:t>
            </a:r>
            <a:r>
              <a:rPr lang="en-US" sz="1200">
                <a:latin typeface="Calibri"/>
                <a:cs typeface="Calibri"/>
              </a:rPr>
              <a:t> The neural network had a 95.05% accuracy 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898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55AF1-D45F-6A4C-A385-4993DB4B1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Results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742263CF-9284-1316-7BDA-34CCE78C1D4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4640211"/>
              </p:ext>
            </p:extLst>
          </p:nvPr>
        </p:nvGraphicFramePr>
        <p:xfrm>
          <a:off x="129015" y="944328"/>
          <a:ext cx="2982986" cy="2241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77E8CAEA-2BCF-2A1D-652E-C935A32E004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56756191"/>
              </p:ext>
            </p:extLst>
          </p:nvPr>
        </p:nvGraphicFramePr>
        <p:xfrm>
          <a:off x="3112001" y="944328"/>
          <a:ext cx="2982986" cy="2241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27693F11-4298-D149-91DB-841C4CE439B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55546805"/>
              </p:ext>
            </p:extLst>
          </p:nvPr>
        </p:nvGraphicFramePr>
        <p:xfrm>
          <a:off x="5973941" y="944328"/>
          <a:ext cx="2982986" cy="2241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04EC54D9-C6B3-BA12-9E04-EE4FF86E1765}"/>
              </a:ext>
            </a:extLst>
          </p:cNvPr>
          <p:cNvSpPr txBox="1"/>
          <p:nvPr/>
        </p:nvSpPr>
        <p:spPr>
          <a:xfrm>
            <a:off x="365757" y="1432749"/>
            <a:ext cx="203661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>
                <a:solidFill>
                  <a:schemeClr val="tx2">
                    <a:lumMod val="50000"/>
                  </a:schemeClr>
                </a:solidFill>
                <a:latin typeface="Calibri"/>
                <a:cs typeface="Calibri"/>
              </a:rPr>
              <a:t>Deep Neural Network = 95.0%</a:t>
            </a:r>
            <a:endParaRPr lang="en-US" sz="110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391AB42-3C2E-B8BE-0232-031594FEC644}"/>
              </a:ext>
            </a:extLst>
          </p:cNvPr>
          <p:cNvSpPr txBox="1"/>
          <p:nvPr/>
        </p:nvSpPr>
        <p:spPr>
          <a:xfrm>
            <a:off x="3348743" y="1435520"/>
            <a:ext cx="203661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>
                <a:solidFill>
                  <a:schemeClr val="tx2">
                    <a:lumMod val="50000"/>
                  </a:schemeClr>
                </a:solidFill>
                <a:latin typeface="Calibri"/>
                <a:cs typeface="Calibri"/>
              </a:rPr>
              <a:t>Deep Neural Network = 94.9%</a:t>
            </a:r>
            <a:endParaRPr lang="en-US" sz="110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89849DA-8110-E24D-7BDA-998D283A38F6}"/>
              </a:ext>
            </a:extLst>
          </p:cNvPr>
          <p:cNvSpPr txBox="1"/>
          <p:nvPr/>
        </p:nvSpPr>
        <p:spPr>
          <a:xfrm>
            <a:off x="6194743" y="1432749"/>
            <a:ext cx="203661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>
                <a:solidFill>
                  <a:schemeClr val="tx2">
                    <a:lumMod val="50000"/>
                  </a:schemeClr>
                </a:solidFill>
                <a:latin typeface="Calibri"/>
                <a:cs typeface="Calibri"/>
              </a:rPr>
              <a:t>Deep Neural Network = 95.1%</a:t>
            </a:r>
            <a:endParaRPr lang="en-US" sz="1100">
              <a:solidFill>
                <a:schemeClr val="tx2">
                  <a:lumMod val="50000"/>
                </a:schemeClr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93DE6CC-597A-0262-3DDE-1A6F95DBF841}"/>
              </a:ext>
            </a:extLst>
          </p:cNvPr>
          <p:cNvCxnSpPr>
            <a:cxnSpLocks/>
          </p:cNvCxnSpPr>
          <p:nvPr/>
        </p:nvCxnSpPr>
        <p:spPr>
          <a:xfrm>
            <a:off x="465512" y="1468092"/>
            <a:ext cx="2477193" cy="0"/>
          </a:xfrm>
          <a:prstGeom prst="line">
            <a:avLst/>
          </a:prstGeom>
          <a:ln w="15875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2A351A6-17B4-A6AB-7202-22CCD4B212C4}"/>
              </a:ext>
            </a:extLst>
          </p:cNvPr>
          <p:cNvCxnSpPr>
            <a:cxnSpLocks/>
          </p:cNvCxnSpPr>
          <p:nvPr/>
        </p:nvCxnSpPr>
        <p:spPr>
          <a:xfrm>
            <a:off x="3455183" y="1459779"/>
            <a:ext cx="2477193" cy="0"/>
          </a:xfrm>
          <a:prstGeom prst="line">
            <a:avLst/>
          </a:prstGeom>
          <a:ln w="15875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A74D04A-8FB4-7AA2-A5FB-AFDF663B6252}"/>
              </a:ext>
            </a:extLst>
          </p:cNvPr>
          <p:cNvCxnSpPr>
            <a:cxnSpLocks/>
          </p:cNvCxnSpPr>
          <p:nvPr/>
        </p:nvCxnSpPr>
        <p:spPr>
          <a:xfrm>
            <a:off x="6317532" y="1451466"/>
            <a:ext cx="2477193" cy="0"/>
          </a:xfrm>
          <a:prstGeom prst="line">
            <a:avLst/>
          </a:prstGeom>
          <a:ln w="15875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2">
            <a:extLst>
              <a:ext uri="{FF2B5EF4-FFF2-40B4-BE49-F238E27FC236}">
                <a16:creationId xmlns:a16="http://schemas.microsoft.com/office/drawing/2014/main" id="{1275D16C-5325-F119-4EB8-2D188B2BEE7C}"/>
              </a:ext>
            </a:extLst>
          </p:cNvPr>
          <p:cNvSpPr txBox="1"/>
          <p:nvPr/>
        </p:nvSpPr>
        <p:spPr>
          <a:xfrm>
            <a:off x="334861" y="3759897"/>
            <a:ext cx="8474277" cy="34073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50000"/>
              </a:lnSpc>
              <a:spcBef>
                <a:spcPts val="0"/>
              </a:spcBef>
            </a:pPr>
            <a:r>
              <a:rPr lang="en-US" sz="1200" b="1">
                <a:latin typeface="Calibri"/>
                <a:cs typeface="Calibri"/>
              </a:rPr>
              <a:t>Key Takeaway: </a:t>
            </a:r>
            <a:r>
              <a:rPr lang="en-US" sz="1200">
                <a:latin typeface="Calibri"/>
                <a:cs typeface="Calibri"/>
              </a:rPr>
              <a:t>Deep Neural Network outperformed all other models. Combining entry and steady-state resulted in highest accuracy.</a:t>
            </a:r>
            <a:endParaRPr lang="en-US" sz="12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5DF2E5-4D14-8C89-2EF1-9F9EAA35F11E}"/>
              </a:ext>
            </a:extLst>
          </p:cNvPr>
          <p:cNvSpPr txBox="1"/>
          <p:nvPr/>
        </p:nvSpPr>
        <p:spPr>
          <a:xfrm>
            <a:off x="2286960" y="2641061"/>
            <a:ext cx="898671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Aptos Narrow" panose="020B0004020202020204" pitchFamily="34" charset="0"/>
              </a:rPr>
              <a:t>Morlet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60D50E-B6D5-69AC-37B7-1E562C538DAA}"/>
              </a:ext>
            </a:extLst>
          </p:cNvPr>
          <p:cNvSpPr txBox="1"/>
          <p:nvPr/>
        </p:nvSpPr>
        <p:spPr>
          <a:xfrm>
            <a:off x="5269946" y="2634722"/>
            <a:ext cx="898671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Aptos Narrow" panose="020B0004020202020204" pitchFamily="34" charset="0"/>
              </a:rPr>
              <a:t>Morlet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D93BBE-0F6B-DC24-9472-6E3D0C8D9D74}"/>
              </a:ext>
            </a:extLst>
          </p:cNvPr>
          <p:cNvSpPr txBox="1"/>
          <p:nvPr/>
        </p:nvSpPr>
        <p:spPr>
          <a:xfrm>
            <a:off x="8116314" y="2645415"/>
            <a:ext cx="898671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Aptos Narrow" panose="020B0004020202020204" pitchFamily="34" charset="0"/>
              </a:rPr>
              <a:t>Morlet</a:t>
            </a:r>
          </a:p>
        </p:txBody>
      </p:sp>
    </p:spTree>
    <p:extLst>
      <p:ext uri="{BB962C8B-B14F-4D97-AF65-F5344CB8AC3E}">
        <p14:creationId xmlns:p14="http://schemas.microsoft.com/office/powerpoint/2010/main" val="1405712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B18D5-3535-B0E4-35EE-07C9EEE08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Results and Conclusions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87203E-1F95-7A3E-F9A1-AAFDBF4429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7273" y="744730"/>
            <a:ext cx="8051524" cy="3808500"/>
          </a:xfrm>
        </p:spPr>
        <p:txBody>
          <a:bodyPr>
            <a:normAutofit/>
          </a:bodyPr>
          <a:lstStyle/>
          <a:p>
            <a:r>
              <a:rPr lang="en-US" sz="1600"/>
              <a:t>Key takeaway</a:t>
            </a:r>
          </a:p>
          <a:p>
            <a:pPr lvl="1"/>
            <a:r>
              <a:rPr lang="en-US" sz="1400"/>
              <a:t>Implemented KNN, Random forest, and Deep Neural Network to achieve maximum accuracy of 95%</a:t>
            </a:r>
          </a:p>
          <a:p>
            <a:pPr marL="596900" lvl="1" indent="0">
              <a:buNone/>
            </a:pPr>
            <a:endParaRPr lang="en-US" sz="1400"/>
          </a:p>
          <a:p>
            <a:r>
              <a:rPr lang="en-US" sz="1600"/>
              <a:t>Discussion and Next steps</a:t>
            </a:r>
          </a:p>
          <a:p>
            <a:pPr lvl="1"/>
            <a:r>
              <a:rPr lang="en-US" sz="1400"/>
              <a:t>Experiment with additional pre-processing</a:t>
            </a:r>
          </a:p>
          <a:p>
            <a:pPr lvl="1"/>
            <a:r>
              <a:rPr lang="en-US" sz="1400"/>
              <a:t>Use additional features in the frequency domain</a:t>
            </a:r>
          </a:p>
          <a:p>
            <a:pPr lvl="1"/>
            <a:r>
              <a:rPr lang="en-US" sz="1400"/>
              <a:t>Introduce different windowing sizes for the frequency data</a:t>
            </a:r>
          </a:p>
          <a:p>
            <a:pPr lvl="1"/>
            <a:r>
              <a:rPr lang="en-US" sz="1400"/>
              <a:t>Try different activation functions and layer sizes</a:t>
            </a:r>
          </a:p>
          <a:p>
            <a:pPr marL="596900" lvl="1" indent="0">
              <a:buNone/>
            </a:pPr>
            <a:endParaRPr lang="en-US" sz="1400"/>
          </a:p>
          <a:p>
            <a:pPr marL="596900" lvl="1" indent="0">
              <a:buNone/>
            </a:pPr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132593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91290EC94B16D4DA9993A6066768B42" ma:contentTypeVersion="4" ma:contentTypeDescription="Create a new document." ma:contentTypeScope="" ma:versionID="62011411c80a5050a5eef865e768e3b8">
  <xsd:schema xmlns:xsd="http://www.w3.org/2001/XMLSchema" xmlns:xs="http://www.w3.org/2001/XMLSchema" xmlns:p="http://schemas.microsoft.com/office/2006/metadata/properties" xmlns:ns2="4e360c75-ca0a-4b5e-b1d4-74bf0aba8b04" targetNamespace="http://schemas.microsoft.com/office/2006/metadata/properties" ma:root="true" ma:fieldsID="9b7a3b525e2fcc4e74ad8165894eda04" ns2:_="">
    <xsd:import namespace="4e360c75-ca0a-4b5e-b1d4-74bf0aba8b0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360c75-ca0a-4b5e-b1d4-74bf0aba8b0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A56736C-7771-4200-B886-60DD1160606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99A3345-B09D-4A74-AA67-2A2A737389BC}">
  <ds:schemaRefs>
    <ds:schemaRef ds:uri="4e360c75-ca0a-4b5e-b1d4-74bf0aba8b0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18C0044-7D43-4C9C-84D6-CFF4672CACD5}">
  <ds:schemaRefs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595</Words>
  <Application>Microsoft Office PowerPoint</Application>
  <PresentationFormat>On-screen Show (16:9)</PresentationFormat>
  <Paragraphs>121</Paragraphs>
  <Slides>9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Applications of KNN, Random Forest, and Deep Neural Network for Drill Bit Monitoring  </vt:lpstr>
      <vt:lpstr>Introduction</vt:lpstr>
      <vt:lpstr>Methods: Overview</vt:lpstr>
      <vt:lpstr>Data Processing</vt:lpstr>
      <vt:lpstr>KNN</vt:lpstr>
      <vt:lpstr>Random Forest</vt:lpstr>
      <vt:lpstr>Deep Neural Network</vt:lpstr>
      <vt:lpstr>Results</vt:lpstr>
      <vt:lpstr>Results and Conclusions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Ahmed Al Zul Karnain</dc:creator>
  <cp:lastModifiedBy>David Shlimak</cp:lastModifiedBy>
  <cp:revision>2</cp:revision>
  <dcterms:modified xsi:type="dcterms:W3CDTF">2025-02-08T17:02:34Z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mplianceAssetId">
    <vt:lpwstr/>
  </property>
  <property fmtid="{D5CDD505-2E9C-101B-9397-08002B2CF9AE}" pid="3" name="TriggerFlowInfo">
    <vt:lpwstr/>
  </property>
  <property fmtid="{D5CDD505-2E9C-101B-9397-08002B2CF9AE}" pid="4" name="TemplateUrl">
    <vt:lpwstr/>
  </property>
  <property fmtid="{D5CDD505-2E9C-101B-9397-08002B2CF9AE}" pid="5" name="_ExtendedDescription">
    <vt:lpwstr/>
  </property>
  <property fmtid="{D5CDD505-2E9C-101B-9397-08002B2CF9AE}" pid="6" name="xd_Signature">
    <vt:lpwstr/>
  </property>
  <property fmtid="{D5CDD505-2E9C-101B-9397-08002B2CF9AE}" pid="7" name="xd_ProgID">
    <vt:lpwstr/>
  </property>
  <property fmtid="{D5CDD505-2E9C-101B-9397-08002B2CF9AE}" pid="8" name="ContentTypeId">
    <vt:lpwstr>0x010100691290EC94B16D4DA9993A6066768B42</vt:lpwstr>
  </property>
  <property fmtid="{D5CDD505-2E9C-101B-9397-08002B2CF9AE}" pid="9" name="Order">
    <vt:lpwstr>20200.0000000000</vt:lpwstr>
  </property>
</Properties>
</file>